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9" r:id="rId5"/>
    <p:sldId id="286" r:id="rId6"/>
    <p:sldId id="287" r:id="rId7"/>
    <p:sldId id="296" r:id="rId8"/>
    <p:sldId id="291" r:id="rId9"/>
    <p:sldId id="256" r:id="rId10"/>
    <p:sldId id="297" r:id="rId11"/>
    <p:sldId id="298" r:id="rId12"/>
    <p:sldId id="299" r:id="rId13"/>
    <p:sldId id="272" r:id="rId14"/>
    <p:sldId id="300" r:id="rId15"/>
    <p:sldId id="301" r:id="rId16"/>
    <p:sldId id="302" r:id="rId17"/>
    <p:sldId id="303" r:id="rId18"/>
    <p:sldId id="304" r:id="rId19"/>
    <p:sldId id="3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854"/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69" autoAdjust="0"/>
    <p:restoredTop sz="94670"/>
  </p:normalViewPr>
  <p:slideViewPr>
    <p:cSldViewPr snapToGrid="0">
      <p:cViewPr>
        <p:scale>
          <a:sx n="75" d="100"/>
          <a:sy n="75" d="100"/>
        </p:scale>
        <p:origin x="816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541603555037824"/>
          <c:y val="0.14688070998266448"/>
          <c:w val="0.74366390901162838"/>
          <c:h val="0.795175676369394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54854"/>
            </a:solidFill>
          </c:spPr>
          <c:explosion val="14"/>
          <c:dPt>
            <c:idx val="0"/>
            <c:bubble3D val="0"/>
            <c:explosion val="0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B0-4736-9DB1-BF50B16ECF77}"/>
              </c:ext>
            </c:extLst>
          </c:dPt>
          <c:dPt>
            <c:idx val="1"/>
            <c:bubble3D val="0"/>
            <c:explosion val="0"/>
            <c:spPr>
              <a:solidFill>
                <a:srgbClr val="92D05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B0-4736-9DB1-BF50B16ECF77}"/>
              </c:ext>
            </c:extLst>
          </c:dPt>
          <c:dPt>
            <c:idx val="2"/>
            <c:bubble3D val="0"/>
            <c:explosion val="0"/>
            <c:spPr>
              <a:solidFill>
                <a:srgbClr val="FF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B0-4736-9DB1-BF50B16ECF77}"/>
              </c:ext>
            </c:extLst>
          </c:dPt>
          <c:dPt>
            <c:idx val="3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5B0-4736-9DB1-BF50B16ECF77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B0-4736-9DB1-BF50B16EC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noProof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5/15/2025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5/15/2025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9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6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485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3E58-1E12-1551-6836-B4EA8494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23472-071A-5C15-BE4D-44926BA26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0AA22-F05D-477A-8422-CB189BC02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DC93E-0C35-4ED0-ABF3-575CAD02D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05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s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1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5/15/2025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5/15/2025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127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Clothing</a:t>
            </a:r>
            <a:r>
              <a:rPr lang="ar-JO" sz="50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en-US" sz="5000" dirty="0">
                <a:latin typeface="Gill Sans MT" panose="020B0502020104020203" pitchFamily="34" charset="0"/>
              </a:rPr>
              <a:t>C</a:t>
            </a: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lassification</a:t>
            </a:r>
            <a:b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Deeb Learning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2894B736-0F24-454E-8A9D-717EB78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665"/>
            <a:ext cx="6414185" cy="6848669"/>
          </a:xfrm>
          <a:prstGeom prst="rect">
            <a:avLst/>
          </a:prstGeom>
        </p:spPr>
      </p:pic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6978316" y="256674"/>
            <a:ext cx="5213684" cy="5983705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2069433" y="609599"/>
            <a:ext cx="10122568" cy="5229727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1" y="1111886"/>
            <a:ext cx="8229003" cy="833856"/>
          </a:xfrm>
        </p:spPr>
        <p:txBody>
          <a:bodyPr>
            <a:normAutofit fontScale="90000"/>
          </a:bodyPr>
          <a:lstStyle/>
          <a:p>
            <a:pPr algn="ctr">
              <a:spcBef>
                <a:spcPts val="1372"/>
              </a:spcBef>
              <a:spcAft>
                <a:spcPts val="1029"/>
              </a:spcAft>
            </a:pP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Problem Definition (Task Definition)</a:t>
            </a:r>
            <a:br>
              <a:rPr lang="en-US" dirty="0"/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>
            <a:off x="5608080" y="1960733"/>
            <a:ext cx="298800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2438399" y="2470486"/>
            <a:ext cx="9577137" cy="38340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2800" b="0" i="0" dirty="0">
                <a:solidFill>
                  <a:srgbClr val="F8FAFF"/>
                </a:solidFill>
                <a:effectLst/>
                <a:latin typeface="DeepSeek-CJK-patch"/>
              </a:rPr>
              <a:t>This project aims to develop a deep learning-based model to classify clothing images into one of ten distinct categories, including: </a:t>
            </a:r>
            <a:r>
              <a:rPr lang="en-US" sz="2800" b="0" i="1" dirty="0">
                <a:solidFill>
                  <a:srgbClr val="F8FAFF"/>
                </a:solidFill>
                <a:effectLst/>
                <a:latin typeface="DeepSeek-CJK-patch"/>
              </a:rPr>
              <a:t>dress, hat, </a:t>
            </a:r>
            <a:r>
              <a:rPr lang="en-US" sz="2800" b="0" i="1" dirty="0" err="1">
                <a:solidFill>
                  <a:srgbClr val="F8FAFF"/>
                </a:solidFill>
                <a:effectLst/>
                <a:latin typeface="DeepSeek-CJK-patch"/>
              </a:rPr>
              <a:t>longsleeve</a:t>
            </a:r>
            <a:r>
              <a:rPr lang="en-US" sz="2800" b="0" i="1" dirty="0">
                <a:solidFill>
                  <a:srgbClr val="F8FAFF"/>
                </a:solidFill>
                <a:effectLst/>
                <a:latin typeface="DeepSeek-CJK-patch"/>
              </a:rPr>
              <a:t>, outwear, pants, shirt, shoes, shorts, skirt,</a:t>
            </a:r>
            <a:r>
              <a:rPr lang="en-US" sz="2800" b="0" i="0" dirty="0">
                <a:solidFill>
                  <a:srgbClr val="F8FAFF"/>
                </a:solidFill>
                <a:effectLst/>
                <a:latin typeface="DeepSeek-CJK-patch"/>
              </a:rPr>
              <a:t> and </a:t>
            </a:r>
            <a:r>
              <a:rPr lang="en-US" sz="2800" b="0" i="1" dirty="0">
                <a:solidFill>
                  <a:srgbClr val="F8FAFF"/>
                </a:solidFill>
                <a:effectLst/>
                <a:latin typeface="DeepSeek-CJK-patch"/>
              </a:rPr>
              <a:t>t-shirt</a:t>
            </a:r>
            <a:r>
              <a:rPr lang="en-US" sz="2800" b="0" i="0" dirty="0">
                <a:solidFill>
                  <a:srgbClr val="F8FAFF"/>
                </a:solidFill>
                <a:effectLst/>
                <a:latin typeface="DeepSeek-CJK-patch"/>
              </a:rPr>
              <a:t>.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2800" b="0" i="0" dirty="0">
                <a:solidFill>
                  <a:srgbClr val="F8FAFF"/>
                </a:solidFill>
                <a:effectLst/>
                <a:latin typeface="DeepSeek-CJK-patch"/>
              </a:rPr>
              <a:t>This task falls under the scope of </a:t>
            </a:r>
            <a:r>
              <a:rPr lang="en-US" sz="2800" b="1" i="0" dirty="0">
                <a:solidFill>
                  <a:srgbClr val="F8FAFF"/>
                </a:solidFill>
                <a:effectLst/>
                <a:latin typeface="DeepSeek-CJK-patch"/>
              </a:rPr>
              <a:t>Image Classification</a:t>
            </a:r>
            <a:r>
              <a:rPr lang="en-US" sz="2800" b="0" i="0" dirty="0">
                <a:solidFill>
                  <a:srgbClr val="F8FAFF"/>
                </a:solidFill>
                <a:effectLst/>
                <a:latin typeface="DeepSeek-CJK-patch"/>
              </a:rPr>
              <a:t> using </a:t>
            </a:r>
            <a:r>
              <a:rPr lang="en-US" sz="2800" b="1" i="0" dirty="0">
                <a:solidFill>
                  <a:srgbClr val="F8FAFF"/>
                </a:solidFill>
                <a:effectLst/>
                <a:latin typeface="DeepSeek-CJK-patch"/>
              </a:rPr>
              <a:t>Convolutional Neural Networks (CNNs)</a:t>
            </a:r>
            <a:r>
              <a:rPr lang="en-US" sz="2800" b="0" i="0" dirty="0">
                <a:solidFill>
                  <a:srgbClr val="F8FAFF"/>
                </a:solidFill>
                <a:effectLst/>
                <a:latin typeface="DeepSeek-CJK-patch"/>
              </a:rPr>
              <a:t>, a common application in computer vision for fashion and e-commerce industries.</a:t>
            </a:r>
          </a:p>
          <a:p>
            <a:pPr marL="0" indent="0">
              <a:buNone/>
            </a:pPr>
            <a:endParaRPr lang="en-US" sz="1800" i="1" spc="-25" dirty="0">
              <a:solidFill>
                <a:schemeClr val="bg2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3473867A-FBFD-45C7-BD5B-FDE711A8E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33BB357B-B238-4C43-8242-F33D9E1D4905}"/>
              </a:ext>
            </a:extLst>
          </p:cNvPr>
          <p:cNvSpPr/>
          <p:nvPr/>
        </p:nvSpPr>
        <p:spPr>
          <a:xfrm>
            <a:off x="24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id="{5E8475D7-5EB4-4E70-AD4D-D32B1FB40E6E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 descr="White circle">
            <a:extLst>
              <a:ext uri="{FF2B5EF4-FFF2-40B4-BE49-F238E27FC236}">
                <a16:creationId xmlns:a16="http://schemas.microsoft.com/office/drawing/2014/main" id="{103ABA59-6ED8-4FA4-A25B-9B8C475CCBCF}"/>
              </a:ext>
            </a:extLst>
          </p:cNvPr>
          <p:cNvSpPr/>
          <p:nvPr/>
        </p:nvSpPr>
        <p:spPr>
          <a:xfrm>
            <a:off x="8041506" y="2401904"/>
            <a:ext cx="2743200" cy="27154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92443CF-1BB0-4648-AEBA-9AFB75D7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Dataset Description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16D174-C1FB-4494-B78F-EFF7C6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886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3C19A568-7E73-443A-A183-2C3EDA0087DF}"/>
              </a:ext>
            </a:extLst>
          </p:cNvPr>
          <p:cNvSpPr/>
          <p:nvPr/>
        </p:nvSpPr>
        <p:spPr>
          <a:xfrm>
            <a:off x="958669" y="1325792"/>
            <a:ext cx="435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20" name="Content Placeholder 24" descr="Chart">
            <a:extLst>
              <a:ext uri="{FF2B5EF4-FFF2-40B4-BE49-F238E27FC236}">
                <a16:creationId xmlns:a16="http://schemas.microsoft.com/office/drawing/2014/main" id="{ADF6246A-0EC1-4DCB-9145-E3BF493B4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0470531"/>
              </p:ext>
            </p:extLst>
          </p:nvPr>
        </p:nvGraphicFramePr>
        <p:xfrm>
          <a:off x="7351750" y="1814585"/>
          <a:ext cx="3790902" cy="3545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object 8">
            <a:extLst>
              <a:ext uri="{FF2B5EF4-FFF2-40B4-BE49-F238E27FC236}">
                <a16:creationId xmlns:a16="http://schemas.microsoft.com/office/drawing/2014/main" id="{C2065C42-E359-4176-85AC-B337EC4D788C}"/>
              </a:ext>
            </a:extLst>
          </p:cNvPr>
          <p:cNvSpPr txBox="1"/>
          <p:nvPr/>
        </p:nvSpPr>
        <p:spPr>
          <a:xfrm rot="303254">
            <a:off x="7381896" y="5009735"/>
            <a:ext cx="1487564" cy="35137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2000" i="1" spc="15" dirty="0">
                <a:solidFill>
                  <a:srgbClr val="92D050"/>
                </a:solidFill>
                <a:cs typeface="Arial"/>
              </a:rPr>
              <a:t>Test (372)</a:t>
            </a:r>
            <a:endParaRPr lang="en-US" sz="2000" b="1" dirty="0">
              <a:solidFill>
                <a:srgbClr val="92D050"/>
              </a:solidFill>
              <a:latin typeface="+mj-lt"/>
            </a:endParaRPr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DDB21112-A270-432B-831F-754FDCDD78AF}"/>
              </a:ext>
            </a:extLst>
          </p:cNvPr>
          <p:cNvSpPr txBox="1"/>
          <p:nvPr/>
        </p:nvSpPr>
        <p:spPr>
          <a:xfrm rot="19318976">
            <a:off x="10475088" y="4643337"/>
            <a:ext cx="1461680" cy="35137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2000" i="1" spc="15" dirty="0">
                <a:solidFill>
                  <a:schemeClr val="bg2"/>
                </a:solidFill>
                <a:cs typeface="Arial"/>
              </a:rPr>
              <a:t>Train(3068)</a:t>
            </a:r>
          </a:p>
        </p:txBody>
      </p:sp>
      <p:cxnSp>
        <p:nvCxnSpPr>
          <p:cNvPr id="25" name="Straight Connector 24" descr="White line">
            <a:extLst>
              <a:ext uri="{FF2B5EF4-FFF2-40B4-BE49-F238E27FC236}">
                <a16:creationId xmlns:a16="http://schemas.microsoft.com/office/drawing/2014/main" id="{607CF451-781C-4491-A864-E8EEECD3491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8453353" y="2000649"/>
            <a:ext cx="273552" cy="7265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White line">
            <a:extLst>
              <a:ext uri="{FF2B5EF4-FFF2-40B4-BE49-F238E27FC236}">
                <a16:creationId xmlns:a16="http://schemas.microsoft.com/office/drawing/2014/main" id="{C1314840-B284-4988-81B2-CB4ABB86560A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41156" y="4386805"/>
            <a:ext cx="273639" cy="62361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 descr="White line">
            <a:extLst>
              <a:ext uri="{FF2B5EF4-FFF2-40B4-BE49-F238E27FC236}">
                <a16:creationId xmlns:a16="http://schemas.microsoft.com/office/drawing/2014/main" id="{34523086-F02B-40E2-8276-9455FC9EDA4F}"/>
              </a:ext>
            </a:extLst>
          </p:cNvPr>
          <p:cNvCxnSpPr>
            <a:cxnSpLocks/>
          </p:cNvCxnSpPr>
          <p:nvPr/>
        </p:nvCxnSpPr>
        <p:spPr>
          <a:xfrm>
            <a:off x="10571747" y="4203032"/>
            <a:ext cx="550779" cy="43153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6078D9-FC35-40B8-83A3-0035E52DD6AD}"/>
              </a:ext>
            </a:extLst>
          </p:cNvPr>
          <p:cNvSpPr txBox="1"/>
          <p:nvPr/>
        </p:nvSpPr>
        <p:spPr>
          <a:xfrm rot="20749056">
            <a:off x="7410032" y="1606637"/>
            <a:ext cx="1988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Validation(341)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8D7826-5A89-4677-F89D-1F9B21BF3E74}"/>
              </a:ext>
            </a:extLst>
          </p:cNvPr>
          <p:cNvSpPr/>
          <p:nvPr/>
        </p:nvSpPr>
        <p:spPr>
          <a:xfrm>
            <a:off x="176463" y="1684421"/>
            <a:ext cx="6593306" cy="428324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9B2383-132C-ACA0-8761-A35C0D77E220}"/>
              </a:ext>
            </a:extLst>
          </p:cNvPr>
          <p:cNvSpPr txBox="1"/>
          <p:nvPr/>
        </p:nvSpPr>
        <p:spPr>
          <a:xfrm>
            <a:off x="314632" y="2222608"/>
            <a:ext cx="6753725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A dataset containing images of clothing items across ten categories was used, divided into </a:t>
            </a: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training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, </a:t>
            </a: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validation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, and </a:t>
            </a: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test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 sets.</a:t>
            </a:r>
          </a:p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Dataset Statistics:</a:t>
            </a:r>
            <a:endParaRPr lang="en-US" sz="2000" b="0" i="0" dirty="0">
              <a:solidFill>
                <a:srgbClr val="FFFF0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Training images: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 3,068 </a:t>
            </a:r>
            <a:endParaRPr lang="ar-JO" sz="2000" b="0" i="0" dirty="0">
              <a:solidFill>
                <a:srgbClr val="FFFF0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Validation images: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 341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FF00"/>
                </a:solidFill>
                <a:effectLst/>
                <a:latin typeface="DeepSeek-CJK-patch"/>
              </a:rPr>
              <a:t>Test images: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DeepSeek-CJK-patch"/>
              </a:rPr>
              <a:t> 372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A robot looking out a window">
            <a:extLst>
              <a:ext uri="{FF2B5EF4-FFF2-40B4-BE49-F238E27FC236}">
                <a16:creationId xmlns:a16="http://schemas.microsoft.com/office/drawing/2014/main" id="{6C61528E-B0D3-0D82-6690-5BE3A8FB78B7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B4542-D7F9-CE98-0F92-8A0927A0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2B23A4-071D-9068-A372-344EEF86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🧠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Model Description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Picture Placeholder 16" descr="A robot looking out a window&#10;&#10;AI-generated content may be incorrect.">
            <a:extLst>
              <a:ext uri="{FF2B5EF4-FFF2-40B4-BE49-F238E27FC236}">
                <a16:creationId xmlns:a16="http://schemas.microsoft.com/office/drawing/2014/main" id="{9AD5975F-8724-5269-996A-6C1A986B245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172" y="2188768"/>
            <a:ext cx="2414016" cy="2414016"/>
          </a:xfr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65F968-95A0-49B7-28DA-E1E15795550B}"/>
              </a:ext>
            </a:extLst>
          </p:cNvPr>
          <p:cNvSpPr/>
          <p:nvPr/>
        </p:nvSpPr>
        <p:spPr>
          <a:xfrm>
            <a:off x="2743200" y="1493520"/>
            <a:ext cx="9189720" cy="483108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DeepSeek-CJK-patch"/>
              </a:rPr>
              <a:t>Base Model: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DeepSeek-CJK-patch"/>
              </a:rPr>
              <a:t> A Convolutional Neural Network (CNN) with Batch Normalization and Dropout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2400" b="0" i="0" dirty="0">
                <a:solidFill>
                  <a:schemeClr val="tx1"/>
                </a:solidFill>
                <a:effectLst/>
                <a:latin typeface="DeepSeek-CJK-patch"/>
              </a:rPr>
              <a:t>Think of this model as a smart kid learning to identify clothing types from images.</a:t>
            </a:r>
            <a:endParaRPr lang="ar-JO" sz="2400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</p:txBody>
      </p:sp>
      <p:pic>
        <p:nvPicPr>
          <p:cNvPr id="22" name="Picture 21" descr="A baby wearing glasses and lying on a book&#10;&#10;AI-generated content may be incorrect.">
            <a:extLst>
              <a:ext uri="{FF2B5EF4-FFF2-40B4-BE49-F238E27FC236}">
                <a16:creationId xmlns:a16="http://schemas.microsoft.com/office/drawing/2014/main" id="{D0F6140A-B32A-0E56-0E0B-733F184F6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33" y="4518321"/>
            <a:ext cx="2009508" cy="18512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60027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1F5A4E-0141-4CFC-91D6-B3211ED39B55}"/>
              </a:ext>
            </a:extLst>
          </p:cNvPr>
          <p:cNvSpPr/>
          <p:nvPr/>
        </p:nvSpPr>
        <p:spPr>
          <a:xfrm>
            <a:off x="8402052" y="2453640"/>
            <a:ext cx="2971800" cy="223065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model compares its prediction with the true label using a loss function, like </a:t>
            </a:r>
            <a:r>
              <a:rPr lang="en-US" dirty="0" err="1">
                <a:solidFill>
                  <a:schemeClr val="tx1"/>
                </a:solidFill>
              </a:rPr>
              <a:t>CrossEntropyLoss</a:t>
            </a:r>
            <a:r>
              <a:rPr lang="en-US" dirty="0">
                <a:solidFill>
                  <a:schemeClr val="tx1"/>
                </a:solidFill>
              </a:rPr>
              <a:t>, to calculate the error.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5190C4-2D70-C332-7A47-A56A2A0D868A}"/>
              </a:ext>
            </a:extLst>
          </p:cNvPr>
          <p:cNvSpPr/>
          <p:nvPr/>
        </p:nvSpPr>
        <p:spPr>
          <a:xfrm>
            <a:off x="4419601" y="1614637"/>
            <a:ext cx="2316480" cy="6080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🔹 2. Forward Pass</a:t>
            </a:r>
          </a:p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3F85CBA-1329-586E-FCCA-715D7A444F0B}"/>
              </a:ext>
            </a:extLst>
          </p:cNvPr>
          <p:cNvSpPr/>
          <p:nvPr/>
        </p:nvSpPr>
        <p:spPr>
          <a:xfrm>
            <a:off x="4312921" y="2437597"/>
            <a:ext cx="2499360" cy="373861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The image passes through convolutional layers that extract features (edges, shapes, patterns).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At the end, the model outputs probabilities for each class (e.g., 70% shirt, 20% t-shirt, 10% pants).</a:t>
            </a:r>
          </a:p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AFACE-BD9F-3070-1EC2-B0F868EB3379}"/>
              </a:ext>
            </a:extLst>
          </p:cNvPr>
          <p:cNvSpPr/>
          <p:nvPr/>
        </p:nvSpPr>
        <p:spPr>
          <a:xfrm>
            <a:off x="595964" y="1632285"/>
            <a:ext cx="1874520" cy="716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40CF4-2DAA-4239-BB77-274BDD82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  <p:sp>
        <p:nvSpPr>
          <p:cNvPr id="14" name="object 27" descr="Beige rectangle">
            <a:extLst>
              <a:ext uri="{FF2B5EF4-FFF2-40B4-BE49-F238E27FC236}">
                <a16:creationId xmlns:a16="http://schemas.microsoft.com/office/drawing/2014/main" id="{7F820741-8871-4D59-8ED1-466FEFD2AF94}"/>
              </a:ext>
            </a:extLst>
          </p:cNvPr>
          <p:cNvSpPr/>
          <p:nvPr/>
        </p:nvSpPr>
        <p:spPr>
          <a:xfrm>
            <a:off x="2026920" y="868680"/>
            <a:ext cx="6729216" cy="387988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68119-9603-4701-8EEC-F2E48B80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201" y="229571"/>
            <a:ext cx="5662246" cy="620661"/>
          </a:xfrm>
        </p:spPr>
        <p:txBody>
          <a:bodyPr/>
          <a:lstStyle/>
          <a:p>
            <a:pPr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1. How Does the Model Learn?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6B21D-049B-0788-EF87-17C6F684C625}"/>
              </a:ext>
            </a:extLst>
          </p:cNvPr>
          <p:cNvSpPr txBox="1"/>
          <p:nvPr/>
        </p:nvSpPr>
        <p:spPr>
          <a:xfrm>
            <a:off x="685800" y="1743194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🔹 1. Input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4F6004-182F-2ECE-B292-1F465FB9691F}"/>
              </a:ext>
            </a:extLst>
          </p:cNvPr>
          <p:cNvSpPr/>
          <p:nvPr/>
        </p:nvSpPr>
        <p:spPr>
          <a:xfrm>
            <a:off x="457200" y="2423160"/>
            <a:ext cx="2103120" cy="184404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model receives an image (e.g., a shirt) resized to 224x224x3.</a:t>
            </a:r>
          </a:p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808290-07B3-2BE7-2980-2008F1342C60}"/>
              </a:ext>
            </a:extLst>
          </p:cNvPr>
          <p:cNvSpPr/>
          <p:nvPr/>
        </p:nvSpPr>
        <p:spPr>
          <a:xfrm>
            <a:off x="8508732" y="1668379"/>
            <a:ext cx="2773680" cy="67858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🔹 3. Loss Calculation</a:t>
            </a:r>
          </a:p>
        </p:txBody>
      </p:sp>
    </p:spTree>
    <p:extLst>
      <p:ext uri="{BB962C8B-B14F-4D97-AF65-F5344CB8AC3E}">
        <p14:creationId xmlns:p14="http://schemas.microsoft.com/office/powerpoint/2010/main" val="3298964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73A51B-B78A-788C-DDA5-047B8E1D696D}"/>
              </a:ext>
            </a:extLst>
          </p:cNvPr>
          <p:cNvSpPr/>
          <p:nvPr/>
        </p:nvSpPr>
        <p:spPr>
          <a:xfrm>
            <a:off x="509336" y="2758440"/>
            <a:ext cx="2971800" cy="223065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error is sent backward through the network to calculate how each weight contributed to the error.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C2E58-AF82-754E-89C4-4C7DEC5EC56B}"/>
              </a:ext>
            </a:extLst>
          </p:cNvPr>
          <p:cNvSpPr/>
          <p:nvPr/>
        </p:nvSpPr>
        <p:spPr>
          <a:xfrm>
            <a:off x="616015" y="1507957"/>
            <a:ext cx="2784911" cy="1143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🔹 4. Backward Pass (Backpropagation)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B66238-81EE-0EA8-F7C1-63CF7F0050F8}"/>
              </a:ext>
            </a:extLst>
          </p:cNvPr>
          <p:cNvSpPr/>
          <p:nvPr/>
        </p:nvSpPr>
        <p:spPr>
          <a:xfrm>
            <a:off x="3918283" y="2750418"/>
            <a:ext cx="2971800" cy="223065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an </a:t>
            </a:r>
            <a:r>
              <a:rPr lang="en-US" b="1" dirty="0">
                <a:solidFill>
                  <a:schemeClr val="tx1"/>
                </a:solidFill>
              </a:rPr>
              <a:t>optimizer</a:t>
            </a:r>
            <a:r>
              <a:rPr lang="en-US" dirty="0">
                <a:solidFill>
                  <a:schemeClr val="tx1"/>
                </a:solidFill>
              </a:rPr>
              <a:t> like SGD, the model updates its weights to reduce the error in the next prediction.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327F5-AA65-DE86-93C4-FB45B9216767}"/>
              </a:ext>
            </a:extLst>
          </p:cNvPr>
          <p:cNvSpPr/>
          <p:nvPr/>
        </p:nvSpPr>
        <p:spPr>
          <a:xfrm>
            <a:off x="4024962" y="1499935"/>
            <a:ext cx="2784911" cy="1143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🔹 5. Weights Update</a:t>
            </a:r>
          </a:p>
        </p:txBody>
      </p:sp>
      <p:sp>
        <p:nvSpPr>
          <p:cNvPr id="9" name="object 27" descr="Beige rectangle">
            <a:extLst>
              <a:ext uri="{FF2B5EF4-FFF2-40B4-BE49-F238E27FC236}">
                <a16:creationId xmlns:a16="http://schemas.microsoft.com/office/drawing/2014/main" id="{41E3DB9C-FC8B-43D2-CDD2-D05318535BFB}"/>
              </a:ext>
            </a:extLst>
          </p:cNvPr>
          <p:cNvSpPr/>
          <p:nvPr/>
        </p:nvSpPr>
        <p:spPr>
          <a:xfrm>
            <a:off x="2572352" y="916806"/>
            <a:ext cx="6729216" cy="387988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25A631-81F7-FB23-55BA-83F8B24D46CC}"/>
              </a:ext>
            </a:extLst>
          </p:cNvPr>
          <p:cNvSpPr txBox="1">
            <a:spLocks/>
          </p:cNvSpPr>
          <p:nvPr/>
        </p:nvSpPr>
        <p:spPr>
          <a:xfrm>
            <a:off x="2966001" y="181444"/>
            <a:ext cx="5662246" cy="6206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</a:pPr>
            <a:r>
              <a:rPr lang="en-US" dirty="0">
                <a:solidFill>
                  <a:schemeClr val="tx1"/>
                </a:solidFill>
                <a:latin typeface="DeepSeek-CJK-patch"/>
              </a:rPr>
              <a:t>1. How Does the Model Learn?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24B5B1FD-9BB1-43C0-9FAD-30753B0294D3}"/>
              </a:ext>
            </a:extLst>
          </p:cNvPr>
          <p:cNvSpPr/>
          <p:nvPr/>
        </p:nvSpPr>
        <p:spPr>
          <a:xfrm>
            <a:off x="7379368" y="1411705"/>
            <a:ext cx="4267200" cy="4539916"/>
          </a:xfrm>
          <a:prstGeom prst="round2Diag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🔁 This process repeats for thousands of images across many epochs, improving the model's accuracy over time.</a:t>
            </a:r>
            <a:endParaRPr lang="ar-JO" sz="2800" dirty="0">
              <a:solidFill>
                <a:schemeClr val="tx1"/>
              </a:solidFill>
            </a:endParaRPr>
          </a:p>
          <a:p>
            <a:endParaRPr lang="ar-JO" sz="2800" dirty="0">
              <a:solidFill>
                <a:schemeClr val="tx1"/>
              </a:solidFill>
            </a:endParaRPr>
          </a:p>
          <a:p>
            <a:endParaRPr lang="ar-JO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3" name="Picture 12" descr="A white circle with green arrows&#10;&#10;AI-generated content may be incorrect.">
            <a:extLst>
              <a:ext uri="{FF2B5EF4-FFF2-40B4-BE49-F238E27FC236}">
                <a16:creationId xmlns:a16="http://schemas.microsoft.com/office/drawing/2014/main" id="{1CDE069D-EC14-1748-585E-76E76C479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242" y="4041106"/>
            <a:ext cx="1748589" cy="1685925"/>
          </a:xfrm>
          <a:prstGeom prst="ellipse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1043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E4DAF-1E3D-A7F6-490B-3C87903A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5A75D-9C23-3E4D-31C2-B50A445D5B67}"/>
              </a:ext>
            </a:extLst>
          </p:cNvPr>
          <p:cNvSpPr txBox="1"/>
          <p:nvPr/>
        </p:nvSpPr>
        <p:spPr>
          <a:xfrm>
            <a:off x="240632" y="3126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📌 Mini Example: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773C07E-3E23-BD52-E063-5665BD404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49" y="1350372"/>
            <a:ext cx="2344615" cy="220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AF0B8C8-19BE-4224-B1F8-2AFD2E9A5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736" y="1372278"/>
            <a:ext cx="2825627" cy="220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75D2E31-AFC5-DE48-00C2-0E197907D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377" y="1360924"/>
            <a:ext cx="2532550" cy="216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548481E-3540-6023-02CB-53E245D09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825" y="1373451"/>
            <a:ext cx="2720119" cy="220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D5303D-5D1E-2BA1-0713-D4BC4FDE3E02}"/>
              </a:ext>
            </a:extLst>
          </p:cNvPr>
          <p:cNvSpPr txBox="1"/>
          <p:nvPr/>
        </p:nvSpPr>
        <p:spPr>
          <a:xfrm>
            <a:off x="5275384" y="773723"/>
            <a:ext cx="1659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Conv(1)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579D16-BBC4-266C-BAAB-431F9A346D8C}"/>
              </a:ext>
            </a:extLst>
          </p:cNvPr>
          <p:cNvCxnSpPr>
            <a:stCxn id="2050" idx="3"/>
            <a:endCxn id="2052" idx="1"/>
          </p:cNvCxnSpPr>
          <p:nvPr/>
        </p:nvCxnSpPr>
        <p:spPr>
          <a:xfrm>
            <a:off x="2627264" y="2455089"/>
            <a:ext cx="277472" cy="1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DF0656-6488-9C94-CF94-0160F03FAD8F}"/>
              </a:ext>
            </a:extLst>
          </p:cNvPr>
          <p:cNvCxnSpPr>
            <a:stCxn id="2052" idx="3"/>
            <a:endCxn id="2054" idx="1"/>
          </p:cNvCxnSpPr>
          <p:nvPr/>
        </p:nvCxnSpPr>
        <p:spPr>
          <a:xfrm flipV="1">
            <a:off x="5730363" y="2442194"/>
            <a:ext cx="390014" cy="3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956567-45ED-B9A9-EC6E-6BE57A74703E}"/>
              </a:ext>
            </a:extLst>
          </p:cNvPr>
          <p:cNvCxnSpPr>
            <a:stCxn id="2054" idx="3"/>
            <a:endCxn id="2056" idx="1"/>
          </p:cNvCxnSpPr>
          <p:nvPr/>
        </p:nvCxnSpPr>
        <p:spPr>
          <a:xfrm>
            <a:off x="8652927" y="2442194"/>
            <a:ext cx="504898" cy="33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A7766C-E14B-4D90-150F-BC6CDB44B686}"/>
              </a:ext>
            </a:extLst>
          </p:cNvPr>
          <p:cNvSpPr txBox="1"/>
          <p:nvPr/>
        </p:nvSpPr>
        <p:spPr>
          <a:xfrm>
            <a:off x="5275385" y="37894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Conv(2)</a:t>
            </a:r>
            <a:endParaRPr lang="en-US" sz="2400" dirty="0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68B058DC-FEE5-5348-A43F-25063EA6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1" y="4477601"/>
            <a:ext cx="2529840" cy="210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D06D5EDD-D3D4-848F-EEB1-E172F67D1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069" y="4419600"/>
            <a:ext cx="2645092" cy="21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1A8AD289-169F-9436-0D6D-ACDF2B0C1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629" y="4450080"/>
            <a:ext cx="2858452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6EF6EC29-E390-0BB7-F19C-EDD1E36C5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815" y="4511040"/>
            <a:ext cx="236410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04F4F5-D88A-5881-7714-F123F1A83CB5}"/>
              </a:ext>
            </a:extLst>
          </p:cNvPr>
          <p:cNvCxnSpPr>
            <a:stCxn id="2060" idx="3"/>
            <a:endCxn id="2062" idx="1"/>
          </p:cNvCxnSpPr>
          <p:nvPr/>
        </p:nvCxnSpPr>
        <p:spPr>
          <a:xfrm flipV="1">
            <a:off x="2743201" y="5497354"/>
            <a:ext cx="463868" cy="3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267E7C-CADA-71DA-5DB9-88F127855D08}"/>
              </a:ext>
            </a:extLst>
          </p:cNvPr>
          <p:cNvCxnSpPr>
            <a:stCxn id="2062" idx="3"/>
            <a:endCxn id="2064" idx="1"/>
          </p:cNvCxnSpPr>
          <p:nvPr/>
        </p:nvCxnSpPr>
        <p:spPr>
          <a:xfrm>
            <a:off x="5852161" y="5497354"/>
            <a:ext cx="311468" cy="1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C889E8-32CD-61B6-3159-3FE2970A0135}"/>
              </a:ext>
            </a:extLst>
          </p:cNvPr>
          <p:cNvCxnSpPr>
            <a:cxnSpLocks/>
          </p:cNvCxnSpPr>
          <p:nvPr/>
        </p:nvCxnSpPr>
        <p:spPr>
          <a:xfrm flipV="1">
            <a:off x="8900160" y="5577840"/>
            <a:ext cx="348615" cy="8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59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0EE2F-1580-1B5F-EB8E-F82294DD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248" y="6174902"/>
            <a:ext cx="309711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8F5E2D-B858-7F18-73C5-9A22149C4E96}"/>
              </a:ext>
            </a:extLst>
          </p:cNvPr>
          <p:cNvSpPr txBox="1"/>
          <p:nvPr/>
        </p:nvSpPr>
        <p:spPr>
          <a:xfrm>
            <a:off x="5457306" y="239283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Conv(3)</a:t>
            </a:r>
            <a:endParaRPr lang="en-US" sz="1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815046B-A383-775D-C1FD-6910F355B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80" y="1155469"/>
            <a:ext cx="2631237" cy="22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11355DB-2746-36A7-19E4-771036760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250" y="1124989"/>
            <a:ext cx="2631237" cy="22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DFA02CC-A0A8-9DE0-8744-57A7238D5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348" y="1127760"/>
            <a:ext cx="2631237" cy="22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1CB53AA-FB67-BA42-EDDB-F0E1230E2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952" y="1113906"/>
            <a:ext cx="2631237" cy="22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147A94-22EC-5D3E-75B6-076A8E0B249A}"/>
              </a:ext>
            </a:extLst>
          </p:cNvPr>
          <p:cNvSpPr txBox="1"/>
          <p:nvPr/>
        </p:nvSpPr>
        <p:spPr>
          <a:xfrm>
            <a:off x="5241175" y="374725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Conv(4)</a:t>
            </a:r>
            <a:endParaRPr lang="en-US" sz="18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25BBF575-8ED0-581C-70D7-ADD839ED6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85" y="4223125"/>
            <a:ext cx="2498234" cy="263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4821EC66-9F06-0BB8-45AD-E3DF399FE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462" y="4223125"/>
            <a:ext cx="2498234" cy="263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7871BEA9-62B4-BE70-E3D9-5E3D54E35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478" y="4223125"/>
            <a:ext cx="2498234" cy="263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A38FE73A-BABF-5D77-5FEE-9CF4C20DD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932" y="4223125"/>
            <a:ext cx="2498234" cy="263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643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4ABB7-62A5-B781-21A1-62D0B703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2DF90-2F07-49A5-8F05-61545A72C3FA}"/>
              </a:ext>
            </a:extLst>
          </p:cNvPr>
          <p:cNvSpPr txBox="1"/>
          <p:nvPr/>
        </p:nvSpPr>
        <p:spPr>
          <a:xfrm>
            <a:off x="5224549" y="1004053"/>
            <a:ext cx="1508760" cy="37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Conv(5)</a:t>
            </a:r>
            <a:endParaRPr lang="en-US" sz="1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FC63A55-AED3-486A-2C38-0565CC76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27" y="1837373"/>
            <a:ext cx="2963746" cy="309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663E7B1-CBC4-1AB1-440B-122D59E8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753" y="1840143"/>
            <a:ext cx="2963746" cy="309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6177AC6-0C3B-8A5A-C1B8-5C891F2D0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731" y="1826289"/>
            <a:ext cx="2963746" cy="309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E1CC4E4E-F7E7-13BF-A7CD-2D75B17AB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35" y="1829059"/>
            <a:ext cx="2963746" cy="309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759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AF702-A859-4D49-823E-4557028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5D9271-B659-4A45-8868-BAEC4EF7D1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10691" y="-38619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Model Architecture (Sequential </a:t>
            </a:r>
            <a:r>
              <a:rPr lang="ar-JO" dirty="0"/>
              <a:t>(1)</a:t>
            </a:r>
            <a:r>
              <a:rPr lang="en-US" b="1" dirty="0"/>
              <a:t>)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AE0176F-3F1B-391F-0B28-76BB49AD679B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67870240"/>
              </p:ext>
            </p:extLst>
          </p:nvPr>
        </p:nvGraphicFramePr>
        <p:xfrm>
          <a:off x="731520" y="688621"/>
          <a:ext cx="10673544" cy="55958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68386">
                  <a:extLst>
                    <a:ext uri="{9D8B030D-6E8A-4147-A177-3AD203B41FA5}">
                      <a16:colId xmlns:a16="http://schemas.microsoft.com/office/drawing/2014/main" val="2689589957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266054610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278969271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3008919741"/>
                    </a:ext>
                  </a:extLst>
                </a:gridCol>
              </a:tblGrid>
              <a:tr h="259326">
                <a:tc>
                  <a:txBody>
                    <a:bodyPr/>
                    <a:lstStyle/>
                    <a:p>
                      <a:r>
                        <a:rPr lang="en-US" sz="1600" dirty="0"/>
                        <a:t>Layer Name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Output Shape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Parameters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4227628110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Conv2D (1)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(254, 254, 16)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160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Filters + ReLU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191429843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MaxPooling2D (1)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(127, 127, 16)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Downsampling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4223034321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BatchNorm (1)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(127, 127, 16)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64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Normalize feature maps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622966387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Conv2D (2)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(125, 125, 32)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4,640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More filters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168647860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MaxPooling2D (2)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(62, 62, 32)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Downsampling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1261206074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BatchNorm (2)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(62, 62, 32)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128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847157787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Conv2D (3)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(60, 60, 64)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18,496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Extract deeper features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50419078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MaxPooling2D (3)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(30, 30, 64)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552345783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BatchNorm (3)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(30, 30, 64)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256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811789588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Conv2D (4)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(28, 28, 256)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147,712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Larger number of filters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3500173396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MaxPooling2D (4)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(14, 14, 256)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87958785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BatchNorm (4)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(14, 14, 256)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1024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568855032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Conv2D (5)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(12, 12, 512)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1,180,160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deep representation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4122198133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MaxPooling2D (5)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(6, 6, 512)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1224630522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BatchNorm (5)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(6, 6, 512)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2048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660760861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Flatten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(18432)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Flatten for dense layers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105721153"/>
                  </a:ext>
                </a:extLst>
              </a:tr>
              <a:tr h="496868">
                <a:tc>
                  <a:txBody>
                    <a:bodyPr/>
                    <a:lstStyle/>
                    <a:p>
                      <a:r>
                        <a:rPr lang="en-US" sz="1600"/>
                        <a:t>Dense (1)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(256)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4,718,848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Fully connected layer + Dropout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3758589934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Dense (2)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(128)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32,896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740923901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r>
                        <a:rPr lang="en-US" sz="1600"/>
                        <a:t>Dense (Output)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(10)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1,290</a:t>
                      </a:r>
                    </a:p>
                  </a:txBody>
                  <a:tcPr marL="23757" marR="23757" marT="11879" marB="1187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prediction layer</a:t>
                      </a:r>
                    </a:p>
                  </a:txBody>
                  <a:tcPr marL="23757" marR="23757" marT="11879" marB="11879" anchor="ctr"/>
                </a:tc>
                <a:extLst>
                  <a:ext uri="{0D108BD9-81ED-4DB2-BD59-A6C34878D82A}">
                    <a16:rowId xmlns:a16="http://schemas.microsoft.com/office/drawing/2014/main" val="2514890590"/>
                  </a:ext>
                </a:extLst>
              </a:tr>
            </a:tbl>
          </a:graphicData>
        </a:graphic>
      </p:graphicFrame>
      <p:sp>
        <p:nvSpPr>
          <p:cNvPr id="29" name="object 27" descr="Beige rectangle">
            <a:extLst>
              <a:ext uri="{FF2B5EF4-FFF2-40B4-BE49-F238E27FC236}">
                <a16:creationId xmlns:a16="http://schemas.microsoft.com/office/drawing/2014/main" id="{CE178D24-EC15-4677-8CE4-B6FAE887C7CE}"/>
              </a:ext>
            </a:extLst>
          </p:cNvPr>
          <p:cNvSpPr/>
          <p:nvPr/>
        </p:nvSpPr>
        <p:spPr>
          <a:xfrm flipV="1">
            <a:off x="2406702" y="-548477"/>
            <a:ext cx="7402316" cy="1096954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70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EFC01-5CD6-71AA-D440-D0FD2291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11</a:t>
            </a:fld>
            <a:endParaRPr lang="en-US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9D14A-5BF0-C05E-FB60-335E8A47D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328760"/>
              </p:ext>
            </p:extLst>
          </p:nvPr>
        </p:nvGraphicFramePr>
        <p:xfrm>
          <a:off x="838200" y="964276"/>
          <a:ext cx="10515600" cy="433924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6376072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585019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855370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98017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29894131"/>
                    </a:ext>
                  </a:extLst>
                </a:gridCol>
              </a:tblGrid>
              <a:tr h="394477">
                <a:tc>
                  <a:txBody>
                    <a:bodyPr/>
                    <a:lstStyle/>
                    <a:p>
                      <a:r>
                        <a:rPr lang="en-US" dirty="0"/>
                        <a:t>Epoch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Train Accuracy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 Accuracy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Train Loss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 Loss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479439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0.2463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4.4706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2.8288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496917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0.3640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2.5065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1.7839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694737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0.4477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1.7396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1.5497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986785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1.4574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1.3971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167035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0.5484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1.3098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1.3685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321748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1.1385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1.1789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625808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0.6886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0.9489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1.1540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737601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0.6774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1.0985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873952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0.7561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622775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1995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54DFC3-3F0A-A700-2798-E964139B12B6}"/>
              </a:ext>
            </a:extLst>
          </p:cNvPr>
          <p:cNvSpPr txBox="1"/>
          <p:nvPr/>
        </p:nvSpPr>
        <p:spPr>
          <a:xfrm>
            <a:off x="2714106" y="183911"/>
            <a:ext cx="8009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Evaluation Metrics (Training &amp; Validation Accuracy/Loss)</a:t>
            </a:r>
            <a:endParaRPr lang="en-US" sz="2000" dirty="0"/>
          </a:p>
        </p:txBody>
      </p:sp>
      <p:sp>
        <p:nvSpPr>
          <p:cNvPr id="6" name="object 27" descr="Beige rectangle">
            <a:extLst>
              <a:ext uri="{FF2B5EF4-FFF2-40B4-BE49-F238E27FC236}">
                <a16:creationId xmlns:a16="http://schemas.microsoft.com/office/drawing/2014/main" id="{254E5A27-04FE-F332-5211-7B427C4C0D36}"/>
              </a:ext>
            </a:extLst>
          </p:cNvPr>
          <p:cNvSpPr/>
          <p:nvPr/>
        </p:nvSpPr>
        <p:spPr>
          <a:xfrm>
            <a:off x="2643446" y="701040"/>
            <a:ext cx="7333673" cy="370997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1EE20E1-D8DA-7E02-9CAC-E232BB818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697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epoch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epoch 9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 Accuracy = 71.26%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7528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FC04-924F-94CB-6CC3-C5420667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0AF27-4913-F77F-4A19-E0E91BCE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585512-62EF-B515-00FF-CF1D2ECC70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10691" y="-38619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Model Architecture (Sequential </a:t>
            </a:r>
            <a:r>
              <a:rPr lang="ar-JO" dirty="0"/>
              <a:t>(2)</a:t>
            </a:r>
            <a:r>
              <a:rPr lang="en-US" b="1" dirty="0"/>
              <a:t>)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8C2DCEC-3E0B-33E6-C7FF-8B1B37311FB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94907133"/>
              </p:ext>
            </p:extLst>
          </p:nvPr>
        </p:nvGraphicFramePr>
        <p:xfrm>
          <a:off x="847898" y="670560"/>
          <a:ext cx="10623668" cy="61874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18510">
                  <a:extLst>
                    <a:ext uri="{9D8B030D-6E8A-4147-A177-3AD203B41FA5}">
                      <a16:colId xmlns:a16="http://schemas.microsoft.com/office/drawing/2014/main" val="2689589957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266054610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278969271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3008919741"/>
                    </a:ext>
                  </a:extLst>
                </a:gridCol>
              </a:tblGrid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Layer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Output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628110"/>
                  </a:ext>
                </a:extLst>
              </a:tr>
              <a:tr h="326302">
                <a:tc>
                  <a:txBody>
                    <a:bodyPr/>
                    <a:lstStyle/>
                    <a:p>
                      <a:r>
                        <a:rPr lang="en-US" sz="1100"/>
                        <a:t>Conv2D (16 filters)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(254, 254, 16)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Extracts 16 feature maps using 3x3 filters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429843"/>
                  </a:ext>
                </a:extLst>
              </a:tr>
              <a:tr h="326302">
                <a:tc>
                  <a:txBody>
                    <a:bodyPr/>
                    <a:lstStyle/>
                    <a:p>
                      <a:r>
                        <a:rPr lang="en-US" sz="1100"/>
                        <a:t>MaxPooling2D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(127, 127, 16)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Reduces spatial dimensions (2x2 pooling)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034321"/>
                  </a:ext>
                </a:extLst>
              </a:tr>
              <a:tr h="326302">
                <a:tc>
                  <a:txBody>
                    <a:bodyPr/>
                    <a:lstStyle/>
                    <a:p>
                      <a:r>
                        <a:rPr lang="en-US" sz="1100"/>
                        <a:t>BatchNormalization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(127, 127, 16)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Normalizes activations to stabilize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966387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Conv2D (32 filters)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(125, 125, 32)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4,640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Extracts 32 deeper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47860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MaxPooling2D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(62, 62, 32)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Reduces feature map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206074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BatchNormalization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(62, 62, 32)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Stabilizes and accelerates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157787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Conv2D (64 filters)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(60, 60, 64)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18,496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Learns more complex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19078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MaxPooling2D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(30, 30, 64)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Downsamples the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345783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BatchNormalization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(30, 30, 64)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Normalizes output activations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89588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Conv2D (256 filters)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(28, 28, 256)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147,712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Detects high-level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173396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MaxPooling2D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(14, 14, 256)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Reduces spatial dimensions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58785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BatchNormalization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(14, 14, 256)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Improves training 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855032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Conv2D (512 filters)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(12, 12, 512)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1,180,160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Captures very deep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198133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MaxPooling2D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(6, 6, 512)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Downsamples final feature maps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630522"/>
                  </a:ext>
                </a:extLst>
              </a:tr>
              <a:tr h="326302">
                <a:tc>
                  <a:txBody>
                    <a:bodyPr/>
                    <a:lstStyle/>
                    <a:p>
                      <a:r>
                        <a:rPr lang="en-US" sz="1100"/>
                        <a:t>BatchNormalization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(6, 6, 512)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2,048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Final batch normalization before flattening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0861"/>
                  </a:ext>
                </a:extLst>
              </a:tr>
              <a:tr h="326302">
                <a:tc>
                  <a:txBody>
                    <a:bodyPr/>
                    <a:lstStyle/>
                    <a:p>
                      <a:r>
                        <a:rPr lang="en-US" sz="1100"/>
                        <a:t>Flatten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(18,432)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Converts 3D data to 1D for dense 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721153"/>
                  </a:ext>
                </a:extLst>
              </a:tr>
              <a:tr h="326302">
                <a:tc>
                  <a:txBody>
                    <a:bodyPr/>
                    <a:lstStyle/>
                    <a:p>
                      <a:r>
                        <a:rPr lang="en-US" sz="1100"/>
                        <a:t>Dense (256 units)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(256)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4,718,848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Fully connected layer for learning combinations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589934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Dropout (rate=0.5)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(256)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Reduces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923901"/>
                  </a:ext>
                </a:extLst>
              </a:tr>
              <a:tr h="198112">
                <a:tc>
                  <a:txBody>
                    <a:bodyPr/>
                    <a:lstStyle/>
                    <a:p>
                      <a:r>
                        <a:rPr lang="en-US" sz="1100"/>
                        <a:t>Dense (128 units)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(128)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32,896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Further feature compression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890590"/>
                  </a:ext>
                </a:extLst>
              </a:tr>
            </a:tbl>
          </a:graphicData>
        </a:graphic>
      </p:graphicFrame>
      <p:sp>
        <p:nvSpPr>
          <p:cNvPr id="29" name="object 27" descr="Beige rectangle">
            <a:extLst>
              <a:ext uri="{FF2B5EF4-FFF2-40B4-BE49-F238E27FC236}">
                <a16:creationId xmlns:a16="http://schemas.microsoft.com/office/drawing/2014/main" id="{87506FD7-2622-2CCF-F8AB-5F1E083CC824}"/>
              </a:ext>
            </a:extLst>
          </p:cNvPr>
          <p:cNvSpPr/>
          <p:nvPr/>
        </p:nvSpPr>
        <p:spPr>
          <a:xfrm flipV="1">
            <a:off x="2406702" y="-548477"/>
            <a:ext cx="7402316" cy="1096954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18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260D-FBB4-0938-7E23-616FEB8E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0394B-1A92-5D31-21F2-B5608C1C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13</a:t>
            </a:fld>
            <a:endParaRPr lang="en-US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13873D-4501-4A25-CABD-86B64BFCF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47820"/>
              </p:ext>
            </p:extLst>
          </p:nvPr>
        </p:nvGraphicFramePr>
        <p:xfrm>
          <a:off x="838200" y="964276"/>
          <a:ext cx="10515600" cy="433924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6376072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585019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855370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98017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29894131"/>
                    </a:ext>
                  </a:extLst>
                </a:gridCol>
              </a:tblGrid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Epoch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Loss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 Accuracy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 Loss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479439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4.527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0.1584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5.7521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496917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0.3329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0.2434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2.1889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694737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0.4070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0.3519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1.8702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986785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0.4954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1.582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0.4428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1.6231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167035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0.5538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1.4410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321748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1.285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1.2684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625808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0.6374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737601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1.1133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873952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1.1850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622775"/>
                  </a:ext>
                </a:extLst>
              </a:tr>
              <a:tr h="394477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0.7619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0.6569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1.0865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1995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3A7E75-FE0F-C53C-F6EB-BF4260AF8B80}"/>
              </a:ext>
            </a:extLst>
          </p:cNvPr>
          <p:cNvSpPr txBox="1"/>
          <p:nvPr/>
        </p:nvSpPr>
        <p:spPr>
          <a:xfrm>
            <a:off x="2714106" y="183911"/>
            <a:ext cx="8009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Evaluation Metrics (Training &amp; Validation Accuracy/Loss)</a:t>
            </a:r>
            <a:endParaRPr lang="en-US" sz="2000" dirty="0"/>
          </a:p>
        </p:txBody>
      </p:sp>
      <p:sp>
        <p:nvSpPr>
          <p:cNvPr id="6" name="object 27" descr="Beige rectangle">
            <a:extLst>
              <a:ext uri="{FF2B5EF4-FFF2-40B4-BE49-F238E27FC236}">
                <a16:creationId xmlns:a16="http://schemas.microsoft.com/office/drawing/2014/main" id="{915EC618-CAC0-D560-A358-7B282BC45121}"/>
              </a:ext>
            </a:extLst>
          </p:cNvPr>
          <p:cNvSpPr/>
          <p:nvPr/>
        </p:nvSpPr>
        <p:spPr>
          <a:xfrm>
            <a:off x="2643446" y="701040"/>
            <a:ext cx="7333673" cy="370997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A723DB-3E42-8891-5588-95DE0860A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13708"/>
            <a:ext cx="62451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epoch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epoch 9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 Accuracy = 7</a:t>
            </a:r>
            <a:r>
              <a:rPr kumimoji="0" lang="ar-JO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ar-JO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3058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C8AA0-AA74-C1F3-7FFB-41B65028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14</a:t>
            </a:fld>
            <a:endParaRPr lang="en-US" noProof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3D91FB9-4EAF-D628-C598-2720BDCA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65" y="625792"/>
            <a:ext cx="4239491" cy="323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4BCBB63-337F-5A4D-AFA3-A5F7CC04C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447" y="609170"/>
            <a:ext cx="4437957" cy="316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166CD4-55A2-79B9-E32E-0A5C45DE1455}"/>
              </a:ext>
            </a:extLst>
          </p:cNvPr>
          <p:cNvSpPr txBox="1"/>
          <p:nvPr/>
        </p:nvSpPr>
        <p:spPr>
          <a:xfrm>
            <a:off x="7258396" y="3893453"/>
            <a:ext cx="48006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600" b="1" i="0" dirty="0">
                <a:effectLst/>
                <a:latin typeface="DeepSeek-CJK-patch"/>
              </a:rPr>
              <a:t>Accuracy Graph</a:t>
            </a:r>
            <a:endParaRPr lang="en-US" sz="1600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sz="1600" b="0" i="0" dirty="0">
                <a:effectLst/>
                <a:latin typeface="DeepSeek-CJK-patch"/>
              </a:rPr>
              <a:t>📈 </a:t>
            </a:r>
            <a:r>
              <a:rPr lang="en-US" sz="1600" b="1" i="0" dirty="0">
                <a:effectLst/>
                <a:latin typeface="DeepSeek-CJK-patch"/>
              </a:rPr>
              <a:t>"Model Learning Progress"</a:t>
            </a:r>
            <a:endParaRPr lang="en-US" sz="1600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DeepSeek-CJK-patch"/>
              </a:rPr>
              <a:t>Blue line (Top)</a:t>
            </a:r>
            <a:r>
              <a:rPr lang="en-US" sz="1600" b="0" i="0" dirty="0">
                <a:effectLst/>
                <a:latin typeface="DeepSeek-CJK-patch"/>
              </a:rPr>
              <a:t>: Training accuracy (Improved from 62% to 78%)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DeepSeek-CJK-patch"/>
              </a:rPr>
              <a:t>Orange line (Bottom)</a:t>
            </a:r>
            <a:r>
              <a:rPr lang="en-US" sz="1600" b="0" i="0" dirty="0">
                <a:effectLst/>
                <a:latin typeface="DeepSeek-CJK-patch"/>
              </a:rPr>
              <a:t>: Validation accuracy (Reached 72%)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DeepSeek-CJK-patch"/>
              </a:rPr>
              <a:t>Key Insight</a:t>
            </a:r>
            <a:r>
              <a:rPr lang="en-US" sz="1600" b="0" i="0" dirty="0">
                <a:effectLst/>
                <a:latin typeface="DeepSeek-CJK-patch"/>
              </a:rPr>
              <a:t>: Closer lines = Better generalization!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3305D-F540-F158-54D1-D748AE1D7D73}"/>
              </a:ext>
            </a:extLst>
          </p:cNvPr>
          <p:cNvSpPr txBox="1"/>
          <p:nvPr/>
        </p:nvSpPr>
        <p:spPr>
          <a:xfrm>
            <a:off x="619298" y="4098864"/>
            <a:ext cx="5548745" cy="256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b="1" i="0" dirty="0">
                <a:effectLst/>
                <a:latin typeface="DeepSeek-CJK-patch"/>
              </a:rPr>
              <a:t>Loss Graph</a:t>
            </a:r>
            <a:endParaRPr lang="en-US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b="0" i="0" dirty="0">
                <a:effectLst/>
                <a:latin typeface="DeepSeek-CJK-patch"/>
              </a:rPr>
              <a:t>📉 </a:t>
            </a:r>
            <a:r>
              <a:rPr lang="en-US" b="1" i="0" dirty="0">
                <a:effectLst/>
                <a:latin typeface="DeepSeek-CJK-patch"/>
              </a:rPr>
              <a:t>"Mistakes Decreasing Over Time"</a:t>
            </a:r>
            <a:endParaRPr lang="en-US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Blue line (Bottom)</a:t>
            </a:r>
            <a:r>
              <a:rPr lang="en-US" b="0" i="0" dirty="0">
                <a:effectLst/>
                <a:latin typeface="DeepSeek-CJK-patch"/>
              </a:rPr>
              <a:t>: Training errors (Dropped from 1.2 to 0.6)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Orange line (Top)</a:t>
            </a:r>
            <a:r>
              <a:rPr lang="en-US" b="0" i="0" dirty="0">
                <a:effectLst/>
                <a:latin typeface="DeepSeek-CJK-patch"/>
              </a:rPr>
              <a:t>: Validation errors (Fell to 0.7)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Warning Sign</a:t>
            </a:r>
            <a:r>
              <a:rPr lang="en-US" b="0" i="0" dirty="0">
                <a:effectLst/>
                <a:latin typeface="DeepSeek-CJK-patch"/>
              </a:rPr>
              <a:t>: Small gap = No overfitting!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EFA0F-BCE5-3F18-1B06-A728777E31BC}"/>
              </a:ext>
            </a:extLst>
          </p:cNvPr>
          <p:cNvSpPr txBox="1"/>
          <p:nvPr/>
        </p:nvSpPr>
        <p:spPr>
          <a:xfrm>
            <a:off x="3994266" y="17278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Model performance during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53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standing next to a question mark&#10;&#10;AI-generated content may be incorrect.">
            <a:extLst>
              <a:ext uri="{FF2B5EF4-FFF2-40B4-BE49-F238E27FC236}">
                <a16:creationId xmlns:a16="http://schemas.microsoft.com/office/drawing/2014/main" id="{10E6D267-47C6-6AA0-1A0F-EDA2B7656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70469"/>
          </a:xfrm>
          <a:prstGeom prst="rect">
            <a:avLst/>
          </a:prstGeom>
        </p:spPr>
      </p:pic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70D98B2-0D8E-B3A0-FC53-1D951FE5B1C0}"/>
              </a:ext>
            </a:extLst>
          </p:cNvPr>
          <p:cNvSpPr/>
          <p:nvPr/>
        </p:nvSpPr>
        <p:spPr>
          <a:xfrm>
            <a:off x="299258" y="2128058"/>
            <a:ext cx="11521440" cy="3374967"/>
          </a:xfrm>
          <a:prstGeom prst="round2Diag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4072DD-C938-D0A0-ACEC-1F8A3BAB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15</a:t>
            </a:fld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BA111-F096-E5CB-C6AC-644D672CD7A3}"/>
              </a:ext>
            </a:extLst>
          </p:cNvPr>
          <p:cNvSpPr txBox="1"/>
          <p:nvPr/>
        </p:nvSpPr>
        <p:spPr>
          <a:xfrm>
            <a:off x="5058295" y="322410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⚠️ Limitations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EAC0717-1AA4-8FBD-E934-5CD1F2FBF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78" y="2306749"/>
            <a:ext cx="117708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Model Accuracy: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AlexNet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older architecture compared to modern models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limits its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Lighting and Background: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may misclassify images taken under different lighting conditions or with complex backgrounds.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Distinguishing Similar Classes: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categories such as "shirt" and "t-shirt" look very similar, making it harder for the model to differentiate.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Context Understanding: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does not understand the context or pose of the clothing item in the image.</a:t>
            </a:r>
          </a:p>
        </p:txBody>
      </p:sp>
    </p:spTree>
    <p:extLst>
      <p:ext uri="{BB962C8B-B14F-4D97-AF65-F5344CB8AC3E}">
        <p14:creationId xmlns:p14="http://schemas.microsoft.com/office/powerpoint/2010/main" val="1247408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ircular logo with a blue and white circle&#10;&#10;AI-generated content may be incorrect.">
            <a:extLst>
              <a:ext uri="{FF2B5EF4-FFF2-40B4-BE49-F238E27FC236}">
                <a16:creationId xmlns:a16="http://schemas.microsoft.com/office/drawing/2014/main" id="{A6D893D2-7E18-71B7-3DC9-993EA9FB98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1675" y="0"/>
            <a:ext cx="13873279" cy="6858000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66ABE8E5-7243-A27F-2D42-CCE7386D4E26}"/>
              </a:ext>
            </a:extLst>
          </p:cNvPr>
          <p:cNvSpPr/>
          <p:nvPr/>
        </p:nvSpPr>
        <p:spPr>
          <a:xfrm>
            <a:off x="299258" y="1961803"/>
            <a:ext cx="11521440" cy="3374967"/>
          </a:xfrm>
          <a:prstGeom prst="round2Diag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E8855-6AF9-8B02-B359-E35BEB24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16</a:t>
            </a:fld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7C391-0A30-0AB4-EDC8-AD00446F72F9}"/>
              </a:ext>
            </a:extLst>
          </p:cNvPr>
          <p:cNvSpPr txBox="1"/>
          <p:nvPr/>
        </p:nvSpPr>
        <p:spPr>
          <a:xfrm>
            <a:off x="4808913" y="438789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🚀 Future Work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F5E471-EC07-C989-E7F4-C527DF34A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63" y="2169299"/>
            <a:ext cx="1118893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More Advanced Models: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 more recent architectures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Vision Transformers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improved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Data Quality: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data augmentation techniques (e.g., rotation, zoom) to enhance the model’s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Multi-label Classification: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the model to handle images with more than one clothing item.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Descriptive Information: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image data with textual descriptions to help the model make better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a Web or Mobile App: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trained model in a real-world application that classifies clothes automatically for users.</a:t>
            </a:r>
          </a:p>
        </p:txBody>
      </p:sp>
    </p:spTree>
    <p:extLst>
      <p:ext uri="{BB962C8B-B14F-4D97-AF65-F5344CB8AC3E}">
        <p14:creationId xmlns:p14="http://schemas.microsoft.com/office/powerpoint/2010/main" val="282490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1811</TotalTime>
  <Words>1405</Words>
  <Application>Microsoft Office PowerPoint</Application>
  <PresentationFormat>Widescreen</PresentationFormat>
  <Paragraphs>346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</vt:lpstr>
      <vt:lpstr>Calibri</vt:lpstr>
      <vt:lpstr>DeepSeek-CJK-patch</vt:lpstr>
      <vt:lpstr>Gill Sans MT</vt:lpstr>
      <vt:lpstr>Roboto</vt:lpstr>
      <vt:lpstr>Office Theme</vt:lpstr>
      <vt:lpstr>Clothing Classification Deeb Learning</vt:lpstr>
      <vt:lpstr> Problem Definition (Task Definition) </vt:lpstr>
      <vt:lpstr>Dataset Description</vt:lpstr>
      <vt:lpstr>🧠 Model Description</vt:lpstr>
      <vt:lpstr>1. How Does the Model Learn?</vt:lpstr>
      <vt:lpstr>PowerPoint Presentation</vt:lpstr>
      <vt:lpstr>PowerPoint Presentation</vt:lpstr>
      <vt:lpstr>PowerPoint Presentation</vt:lpstr>
      <vt:lpstr>PowerPoint Presentation</vt:lpstr>
      <vt:lpstr>Model Architecture (Sequential (1))</vt:lpstr>
      <vt:lpstr>PowerPoint Presentation</vt:lpstr>
      <vt:lpstr>Model Architecture (Sequential (2))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هزايمه</dc:creator>
  <cp:lastModifiedBy>احمد هزايمه</cp:lastModifiedBy>
  <cp:revision>2</cp:revision>
  <dcterms:created xsi:type="dcterms:W3CDTF">2025-05-15T16:19:10Z</dcterms:created>
  <dcterms:modified xsi:type="dcterms:W3CDTF">2025-05-16T22:30:47Z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